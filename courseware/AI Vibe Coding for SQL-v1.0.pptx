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7" r:id="rId18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2" r:id="rId113"/>
    <p:sldId id="363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Repeated values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1NF</c:v>
                </c:pt>
                <c:pt idx="2">
                  <c:v>2NF</c:v>
                </c:pt>
                <c:pt idx="3">
                  <c:v>3NF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5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Integrity rules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1NF</c:v>
                </c:pt>
                <c:pt idx="2">
                  <c:v>2NF</c:v>
                </c:pt>
                <c:pt idx="3">
                  <c:v>3NF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Rows examined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SELECT</c:v>
                </c:pt>
                <c:pt idx="1">
                  <c:v>WHERE</c:v>
                </c:pt>
                <c:pt idx="2">
                  <c:v>JOIN</c:v>
                </c:pt>
                <c:pt idx="3">
                  <c:v>GROUP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260</c:v>
                </c:pt>
                <c:pt idx="2">
                  <c:v>340</c:v>
                </c:pt>
                <c:pt idx="3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Rows returned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SELECT</c:v>
                </c:pt>
                <c:pt idx="1">
                  <c:v>WHERE</c:v>
                </c:pt>
                <c:pt idx="2">
                  <c:v>JOIN</c:v>
                </c:pt>
                <c:pt idx="3">
                  <c:v>GROUP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</c:v>
                </c:pt>
                <c:pt idx="1">
                  <c:v>84</c:v>
                </c:pt>
                <c:pt idx="2">
                  <c:v>112</c:v>
                </c:pt>
                <c:pt idx="3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read 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Composite index</c:v>
                </c:pt>
                <c:pt idx="2">
                  <c:v>Covering index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32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Relative write 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Composite index</c:v>
                </c:pt>
                <c:pt idx="2">
                  <c:v>Covering index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31</c:v>
                </c:pt>
                <c:pt idx="2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Accepted rows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Source</c:v>
                </c:pt>
                <c:pt idx="1">
                  <c:v>Dimensions</c:v>
                </c:pt>
                <c:pt idx="2">
                  <c:v>Facts</c:v>
                </c:pt>
                <c:pt idx="3">
                  <c:v>Dashboard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1180</c:v>
                </c:pt>
                <c:pt idx="2">
                  <c:v>1172</c:v>
                </c:pt>
                <c:pt idx="3">
                  <c:v>1172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Rejected rows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Source</c:v>
                </c:pt>
                <c:pt idx="1">
                  <c:v>Dimensions</c:v>
                </c:pt>
                <c:pt idx="2">
                  <c:v>Facts</c:v>
                </c:pt>
                <c:pt idx="3">
                  <c:v>Dashboard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20</c:v>
                </c:pt>
                <c:pt idx="2">
                  <c:v>8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-vibe-sql-cover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" y="566928"/>
            <a:ext cx="507492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86384"/>
            <a:ext cx="1353312" cy="1353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993392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NON-WSQ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438912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300" b="1">
                <a:solidFill>
                  <a:srgbClr val="0B1F33"/>
                </a:solidFill>
                <a:latin typeface="Arial"/>
              </a:rPr>
              <a:t>AI Vibe Coding for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44348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222E"/>
                </a:solidFill>
                <a:latin typeface="Arial"/>
              </a:rPr>
              <a:t>C1154</a:t>
            </a:r>
          </a:p>
          <a:p>
            <a:r>
              <a:rPr sz="1500" b="1">
                <a:latin typeface="Arial"/>
              </a:rPr>
              <a:t>Prompt · Query · Validate ·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30952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Version v1.0 · 27 August 2026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ONE DAY · 7.5 INSTRUCTIONAL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Course Navigation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1 ·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Prompt contracts, entities, keys and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2 ·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CRUD, filters, joins and safe parameters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3 · Transform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Quality, aggregation, CTEs, transactions and indexes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4 · 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Warehouse mappings, dashboards and capstone evidence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5C6B7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About the Trainer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33756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00200" y="1874519"/>
            <a:ext cx="1463040" cy="146304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240280"/>
            <a:ext cx="1463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37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100" b="1">
                <a:solidFill>
                  <a:srgbClr val="14222E"/>
                </a:solidFill>
                <a:latin typeface="Arial"/>
              </a:rPr>
              <a:t>Your 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28346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C6B73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417320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58191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545336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2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660904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QUALIFICATIONS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624328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575304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739896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SQL / AI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03320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654296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818888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5C6B73"/>
                </a:solidFill>
                <a:latin typeface="Arial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82312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____________________________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About the Trainer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33756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00200" y="1874519"/>
            <a:ext cx="1463040" cy="1463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240280"/>
            <a:ext cx="1463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37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100" b="1">
                <a:solidFill>
                  <a:srgbClr val="14222E"/>
                </a:solidFill>
                <a:latin typeface="Arial"/>
              </a:rPr>
              <a:t>Dr Alfred 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28346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C6B73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417320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581912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545336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Data science, AI, optimisation and database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2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660904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TEACHING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624328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Technical courses and applied project learning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575304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739896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03320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Mechanism first: prompt, inspect, execute, test, explain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654296"/>
            <a:ext cx="7178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818888"/>
            <a:ext cx="1600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82312"/>
            <a:ext cx="4800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14222E"/>
                </a:solidFill>
                <a:latin typeface="Arial"/>
              </a:rPr>
              <a:t>Queries, plans, reconciliations and working applications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Know Your Starting Point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What decisions do you make with data?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Which queries can you already read?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Which assistant do you use and how do you validate it?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Which small database app would save you time?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WORKING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Ground Rules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Protect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Use only fictional lab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Challenge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Never accept generated SQL without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Pair and explain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Share reasoning, not just copied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Save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Keep prompts, query results and checks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LMS / TMS VISUAL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Sign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Open lms-tms.tertiaryinfotech.com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Open course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Select AI Vibe Coding for 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Download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Trainer PDF, Learner Guide and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Confirm all 11 lab folders open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7.5 INSTRUCTIONAL HOURS · 9:30AM – 5:30PM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One-Day Learning Journey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09:30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Admin + AI-SQL control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Topic 1 ·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12:15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Topic 2 ·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14:30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Topics 3–4 · Transform + deliver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17:00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Recap + course feedback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Browser SQLite Runtime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Semantic interface and 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Responsive, accessible visual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JavaScript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Validation and bound 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SQLite compiled to WebAssembly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Export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Portable .db evidence file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VIBE CODING WITH ENGINEERING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AI-to-SQL Control Loop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937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937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Specify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Schema, dialect, rules,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362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94788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74086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4086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3660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2804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Request bounded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832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9496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28794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794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8368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Inspect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7512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Trace fields and joins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83502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3502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3076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Execute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2220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Use a disposable transaction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774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58912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38210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8210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7784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6928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Adversarial + reconciliation checks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2452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1362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9291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9291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249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Approve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163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Record evidence and limitations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REQUIREMENTS TO NORMALISED RELATIONAL SCHEMAS, CONSTRAINTS AND SAFE AI PROMPT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01 · AI-Assisted SQL Data Modelling and Database Design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008E88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Requirements to normalised relational schemas, constraints and safe AI prompt contracts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Requirement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Entities, attributes, relationships, invariants and sample rows become explicit prompt inputs.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Relational integrity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PRIMARY KEY, FOREIGN KEY, NOT NULL, UNIQUE and CHECK constraints reject invalid states.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Normalisation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1NF removes repeating groups; 2NF removes partial dependency; 3NF removes transitive dependency.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TOPIC 01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AI validation gate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8E88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Treat generated DDL as a proposal: inspect, execute in a transaction, test constraints, then approve.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Relational Integrity Boundary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Requirement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Business invariant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DDL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Runtime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SQLite rejects invalid 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8E88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Expected error captured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Prompt-to-Schema Design Studio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Model a Singapore retail ordering workflow from an ambiguous business brief.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NORMALISED SQLITE SCHEMA, RELATIONSHIP MAP AND CONSTRAINT TEST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Act as a senior SQLite data modeller. From the requirements below, return: assumptions; entities and cardinalities; 3NF tables; SQLite DDL with explicit PK, FK, NOT NULL, UNIQUE and CHECK constraints; five adversarial test cases. Do not invent fields. Mark every uncertainty as NEEDS_CONFIRMATION.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1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name, sql FROM sqlite_master WHERE type='table' ORDER BY name;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Invalid email, negative price and orphan order rows are rejected; valid sample rows insert successfully.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AI invents fields or omits constraints → restate the data contract and require a requirement-to-column trace.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SQLite To-Do List Web App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Build a personal work queue with priorities, due dates and completion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 · LO2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RESPONSIVE HTML/CSS/JAVASCRIPT TO-DO APP THAT PERSISTS AN EXPORTED SQLITE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Generate SQLite DDL and parameterised CRUD statements for a tasks table with title, priority, due_date, completed and created_at. Enforce allowed priorities and completed as 0/1. Return SQL only, then list five tests separately.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2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id,title,priority,due_date,completed FROM tasks ORDER BY completed, CASE priority WHEN 'High' THEN 1 WHEN 'Medium' THEN 2 ELSE 3 END, due_date;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2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Add, complete and delete tasks; export the database, reload the page, import it and recover the same 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Unsafe string concatenation or missing domain checks → replace with bound parameters and CHECK constraints.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Customer and Order Relationship Lab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Turn spreadsheet-style customer and order data into a clean relational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CUSTOMER, ORDER AND ORDER-ITEM TABLES WITH TESTED ONE-TO-MANY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Review these customer/order columns. Identify repeating groups and dependencies, propose a 3NF SQLite design, state the grain of each table, and provide DDL plus orphan-key tests. Preserve source identifiers for reconciliation.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3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c.name, COUNT(DISTINCT o.id) orders, ROUND(SUM(oi.qty*oi.unit_price),2) revenue FROM customers c JOIN orders o ON o.customer_id=c.id JOIN order_items oi ON oi.order_id=o.id GROUP BY c.id,c.name ORDER BY revenue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3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The revenue total matches the seed control total and every order item resolves to one order and one product.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Join duplicates inflate revenue → aggregate at order-item grain and verify keys before summing.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01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32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01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CRUD, PREDICATES, JOINS, PARAMETER BINDING AND EVIDENCE-LED CORRECTION OF AI-GENERATED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02 · SQL Data Processing, Querying and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2B6CB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CRUD, predicates, joins, parameter binding and evidence-led correction of AI-generated queries</a:t>
            </a:r>
          </a:p>
        </p:txBody>
      </p:sp>
    </p:spTree>
  </p:cSld>
  <p:clrMapOvr>
    <a:masterClrMapping/>
  </p:clrMapOvr>
  <p:transition spd="med">
    <p:push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Query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FROM/JOIN builds the rowset; WHERE filters; GROUP BY aggregates; HAVING filters groups; SELECT projects; ORDER BY sorts.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Safe parameters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Bind user input as values instead of concatenating strings; structure such as column names stays allow-listed.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Join cardinality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Keys and relationship direction predict row counts; unexpected multiplication is a diagnostic signal.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TOPIC 02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CRUD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Validate inputs, wrap dependent writes in a transaction, verify affected rows and preserve an audit trail.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EXECUTION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Logical Query Processing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39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937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937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FROM / 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Construct rowset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362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94788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74086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4086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3660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2804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Filter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832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9496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28794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794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8368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GROUP BY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7512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Form groups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83502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3502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3076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HAVING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2220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Filter groups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774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58912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38210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8210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7784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SELECT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6928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Project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2452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13620" y="1874519"/>
            <a:ext cx="1653540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92918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9291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2492" y="3063240"/>
            <a:ext cx="1415796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ORDER BY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1636" y="3703320"/>
            <a:ext cx="1397508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Sort result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Inventory CRUD Web App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Manage stock levels for a small Singapore retailer without allowing negative inventory.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SEARCHABLE INVENTORY INTERFACE WITH PARAMETERISED STOCK ADJUSTMENTS AND LOW-STOCK FLAGS.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Produce parameterised SQLite CRUD statements for products. A stock adjustment must be atomic, reject negative resulting stock, and return the updated row. Include a transaction and rollback path.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4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sku,name,stock,reorder_level, CASE WHEN stock&lt;=reorder_level THEN 'REORDER' ELSE 'OK' END status FROM products ORDER BY status DESC, stock;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4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Positive and negative adjustments update one row; an adjustment below zero is rolled 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Read-modify-write race or negative balance → use one guarded UPDATE inside a transaction and check changes().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Order Query and Filter Explorer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Answer operations questions using SELECT, WHERE, ORDER BY, LIMIT and date filters.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TESTED LIBRARY OF PARAMETERISED OPERATIONAL QUERIES AND EXPECTED RESULT 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Given this schema and business question, generate one SQLite SELECT using named parameters. Explain predicate selectivity and null behaviour. Provide a second query that proves the result is complete.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5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order_no,customer_name,status,total,order_date FROM orders WHERE status='Paid' AND order_date&gt;='2026-08-01' ORDER BY total DESC LIMIT 10;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5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Results satisfy every predicate, sort descending and match an independent COUNT control query.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NULL rows disappear unexpectedly → state three-valued logic and test IS NULL explicitly.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Service Desk Join Lab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Combine tickets, requesters and agents without losing unassigned tickets.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SERVICE-DESK BROWSER APP AND JOIN REPORT THAT PRESERVES UNMATCHED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Write a SQLite query for all tickets with requester and optional assigned agent. Preserve unassigned tickets, derive age_hours, and order SLA breaches first. Explain why each join is INNER or LEFT.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6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t.id,t.subject,r.name requester,a.name agent,ROUND((julianday('now')-julianday(t.created_at))*24,1) age_hours FROM tickets t JOIN people r ON r.id=t.requester_id LEFT JOIN people a ON a.id=t.agent_id ORDER BY (age_hours&gt;24) DESC,age_hours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6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Every ticket appears exactly once and unassigned tickets show a blank agent rather than disappearing.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INNER JOIN removes optional relationships → change only the optional side to LEFT JOIN and test row counts.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02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55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02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AGGREGATE MEASURES, CTES, DATA-QUALITY RULES, TRANSACTIONS, INDEXES AND QUERY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03 · SQL Data Aggregation and Transformation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6B4EB6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Aggregate measures, CTEs, data-quality rules, transactions, indexes and query plans</a:t>
            </a:r>
          </a:p>
        </p:txBody>
      </p:sp>
    </p:spTree>
  </p:cSld>
  <p:clrMapOvr>
    <a:masterClrMapping/>
  </p:clrMapOvr>
  <p:transition spd="med">
    <p:push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Grain first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Define what one output row represents before choosing GROUP BY columns or joining detail tables.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Quality profile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Count nulls, duplicates, invalid domains and orphan keys before transforming source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Atomic change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BEGIN, COMMIT and ROLLBACK protect multi-step updates from partial completion.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TOPIC 03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Performance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EXPLAIN QUERY PLAN proves whether an index changes access from SCAN to SEARCH.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Transformation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Quantify defects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Preserve raw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Transform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Apply deterministic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Reconcile rows and totals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B4EB6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Commit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Publish only accepted state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Sales Aggregation Dashboard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Create management KPIs from order-line data at a declared grain.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BROWSER DASHBOARD WITH REVENUE, AVERAGE ORDER VALUE AND CATEGORY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At order-line grain, generate SQLite queries for revenue, distinct orders, average order value and monthly category totals. Prevent double counting and define every numerator and denominator.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7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WITH line AS (SELECT oi.order_id,p.category,oi.qty*oi.unit_price amount FROM order_items oi JOIN products p ON p.id=oi.product_id) SELECT category,ROUND(SUM(amount),2) revenue,COUNT(DISTINCT order_id) orders FROM line GROUP BY category ORDER BY revenue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7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Dashboard grand total equals SUM(qty*unit_price) from order_items and AOV equals revenue/distinct orders.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Averages use line count instead of order count → declare grain and use COUNT(DISTINCT order_id).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Data Quality and Transaction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Clean supplier data and update linked records without partial writes.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PROFILING REPORT, REJECT TABLE AND ATOMIC CORRECTION TRANSACTION.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69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Profile this SQLite supplier table for nulls, duplicate emails, invalid status values and orphan product references. Propose deterministic corrections, a reject table and one atomic transaction. Never delete source rows silently.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8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'null_email' issue,COUNT(*) n FROM suppliers WHERE email IS NULL UNION ALL SELECT 'duplicate_email',COUNT(*) FROM (SELECT email FROM suppliers WHERE email IS NOT NULL GROUP BY email HAVING COUNT(*)&gt;1);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8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The transaction either applies all linked corrections or rolls back; source and reject totals reconcile.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AI overwrites evidence or applies non-deterministic fixes → retain raw values, reason codes and explicit rules.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CTEs, Indexes and Query Plans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Improve a slow order-history query using evidence rather than intuition.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READABLE CTE QUERY, COMPOSITE INDEX AND BEFORE/AFTER EXPLAIN QUERY PLAN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Refactor this SQLite query into named CTEs, then propose the smallest useful index. Explain column order from equality, range and ordering predicates. Require EXPLAIN QUERY PLAN evidence before claiming improvement.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9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EXPLAIN QUERY PLAN SELECT customer_id,order_date,total FROM orders WHERE customer_id=7 AND order_date&gt;='2026-01-01' ORDER BY order_date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9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Plan changes from full SCAN to indexed SEARCH and the result set remains byte-for-byte equivalent.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Index adds storage but is unused → compare plan, predicate order and selectivity; remove redundant index.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03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78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03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79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SOURCE-TO-TARGET MAPPING, STAR SCHEMAS, DIMENSIONAL LOADS AND BROWSER DASHBOARDS BACKED BY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Topic 04 · Data Mapping, Warehousing and Dashboard Development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74519"/>
            <a:ext cx="19202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0" b="1">
                <a:solidFill>
                  <a:srgbClr val="F3A712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813816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Source-to-target mapping, star schemas, dimensional loads and browser dashboards backed by SQLite</a:t>
            </a:r>
          </a:p>
        </p:txBody>
      </p:sp>
    </p:spTree>
  </p:cSld>
  <p:clrMapOvr>
    <a:masterClrMapping/>
  </p:clrMapOvr>
  <p:transition spd="med">
    <p:push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Warehouse grain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A fact table states one measurable event; dimensions provide stable descriptive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Source-to-target map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Each target column records source, transform, data type, null rule and reconciliation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Load discipline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Load dimensions before facts, resolve surrogate keys, quarantine rejects and reconcile totals.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TOPIC 04 ·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Dashboard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40690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1737360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3A712"/>
                </a:solidFill>
                <a:latin typeface="Arial"/>
              </a:rPr>
              <a:t>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267712"/>
            <a:ext cx="3493008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14222E"/>
                </a:solidFill>
                <a:latin typeface="Arial"/>
              </a:rPr>
              <a:t>Each visual owns a metric definition, SQL query, filter behaviour and acceptance threshold.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2"/>
            <a:ext cx="3456432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Arial"/>
              </a:rPr>
              <a:t>State it precisely enough that an AI assistant cannot invent missing columns, keys or business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417320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0" y="1728216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65376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636776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600200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Trace the row or state change inside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953512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3264408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4015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172968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36392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Name the constraint, predicate or transaction boundary.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89704"/>
            <a:ext cx="65105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0" y="4800600"/>
            <a:ext cx="640080" cy="64008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937760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709160"/>
            <a:ext cx="12984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4672584"/>
            <a:ext cx="362102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Retain SQL, output, a failure test and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WAREHOUSE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Star Schema Load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8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48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Source to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56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572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49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49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460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Dimensions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374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Resolve context keys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211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1379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56148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56148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251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Facts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9395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Load measurable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586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702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179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179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90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Reconcile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04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Counts and amounts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3A712"/>
                </a:solidFill>
                <a:latin typeface="Arial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2678" y="1874519"/>
            <a:ext cx="2024481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07447" y="2121408"/>
            <a:ext cx="694944" cy="694944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744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3063240"/>
            <a:ext cx="1786737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Serve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0694" y="3703320"/>
            <a:ext cx="1768449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Dashboard queries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Warehouse Star Schema Dashboard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Map retail transactions into a small analytical star schema.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DATE, CUSTOMER AND PRODUCT DIMENSIONS; A SALES FACT; MAPPING DOCUMENT AND KPI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Design a SQLite star schema for retail sales at order-line grain. Return source-to-target mappings, surrogate-key strategy, dimension-first load SQL, reject handling and three reconciliation queries. Distinguish additive from non-additive measures.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10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89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d.month_name,p.category,ROUND(SUM(f.sales_amount),2) sales FROM fact_sales f JOIN dim_date d ON d.date_key=f.date_key JOIN dim_product p ON p.product_key=f.product_key GROUP BY d.month_name,p.category ORDER BY d.date_key,p.category;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10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Fact row count equals accepted source lines; fact amount reconciles to source amount; no unknown foreign keys remain.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Facts load before dimensions or grain is unclear → resolve dimension keys first and reject unresolved rows.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REALISTIC BUILD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Capstone: AI-Built Service Operations App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3657600" cy="4526280"/>
          </a:xfrm>
          <a:prstGeom prst="roundRect">
            <a:avLst/>
          </a:prstGeom>
          <a:solidFill>
            <a:srgbClr val="D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Business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67712"/>
            <a:ext cx="297180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4222E"/>
                </a:solidFill>
                <a:latin typeface="Arial"/>
              </a:rPr>
              <a:t>Deliver a small service-operations product from brief to validated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LO1–LO4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8E88"/>
                </a:solidFill>
                <a:latin typeface="Arial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Make requirements explicit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417320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63677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148840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Generate and correct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B4EB6"/>
                </a:solidFill>
                <a:latin typeface="Arial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Attack assumptions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776472"/>
            <a:ext cx="3182112" cy="2121408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9959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3A71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07992"/>
            <a:ext cx="27432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4222E"/>
                </a:solidFill>
                <a:latin typeface="Arial"/>
              </a:rPr>
              <a:t>Record accepted output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A FUNCTIONING SQLITE WEB APP, PROMPT LOG, SCHEMA, CRUD WORKFLOW, REPORT AND ACCEPTANCE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Data Path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Browser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HTML/CSS captures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JavaScript validates and binds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SQLite WASM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DDL, query and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Rows, plan and acceptance check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B4EB6"/>
                </a:solidFill>
                <a:latin typeface="Arial"/>
              </a:rPr>
              <a:t>AI PROMPT · CONTROLLED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Prompt Contract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389888"/>
            <a:ext cx="731520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1664208"/>
            <a:ext cx="681228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You are my SQL pair programmer. Work in stages and wait for approval after each: clarify requirements; propose 3NF model; generate SQLite DDL; generate parameterised CRUD; generate SLA report; generate tests and threat review. For every stage, list assumptions, expected outputs and failure tests. Do not change approved contracts silently.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Known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4617720"/>
            <a:ext cx="1993392" cy="786384"/>
          </a:xfrm>
          <a:prstGeom prst="roundRect">
            <a:avLst/>
          </a:prstGeom>
          <a:solidFill>
            <a:srgbClr val="183550"/>
          </a:solidFill>
          <a:ln w="12700">
            <a:solidFill>
              <a:srgbClr val="486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473659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5E9D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5010912"/>
            <a:ext cx="1773936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389888"/>
            <a:ext cx="329184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673352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1993392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Schema + business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660904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2980944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Exact SQL dialect and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648456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No invented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636008"/>
            <a:ext cx="2697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B4EB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956048"/>
            <a:ext cx="2697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Arial"/>
              </a:rPr>
              <a:t>Tests before approval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LAB 11 · EDITABLE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Worked Query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17320"/>
            <a:ext cx="6995160" cy="4526280"/>
          </a:xfrm>
          <a:prstGeom prst="round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1682496"/>
            <a:ext cx="6492240" cy="2514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B9F5DF"/>
                </a:solidFill>
                <a:latin typeface="Consolas"/>
              </a:rPr>
              <a:t>SELECT status,priority,COUNT(*) tickets,ROUND(AVG((julianday(COALESCE(closed_at,'now'))-julianday(created_at))*24),1) avg_hours FROM tickets GROUP BY status,priority ORDER BY status,priority;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INPUT ROWSET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617720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SQL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90288"/>
            <a:ext cx="365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4617720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8FE5D7"/>
                </a:solidFill>
                <a:latin typeface="Arial"/>
              </a:rPr>
              <a:t>ACCEPTED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6355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 the row shape before execution; reconcile it after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1417320"/>
            <a:ext cx="361188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1737360"/>
            <a:ext cx="30632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to inspect</a:t>
            </a:r>
          </a:p>
        </p:txBody>
      </p:sp>
      <p:sp>
        <p:nvSpPr>
          <p:cNvPr id="28" name="Oval 27"/>
          <p:cNvSpPr/>
          <p:nvPr/>
        </p:nvSpPr>
        <p:spPr>
          <a:xfrm>
            <a:off x="8211312" y="2359152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386584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226771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Check input grain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3145536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72968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05409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Inspect join and predicate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3931920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59352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840480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Predict result shape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4718304"/>
            <a:ext cx="320040" cy="32004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745736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462686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4222E"/>
                </a:solidFill>
                <a:latin typeface="Arial"/>
              </a:rPr>
              <a:t>Reconcile output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ACCEPTANCE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Lab 11 · Verification and Failure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554480"/>
            <a:ext cx="5257800" cy="42519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008E88"/>
                </a:solidFill>
                <a:latin typeface="Arial"/>
              </a:rPr>
              <a:t>✓ Acceptance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All acceptance tests pass: integrity, parameter binding, CRUD, report reconciliation, export/import and responsive UI.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321808" cy="4251960"/>
          </a:xfrm>
          <a:prstGeom prst="roundRect">
            <a:avLst/>
          </a:prstGeom>
          <a:solidFill>
            <a:srgbClr val="FDEEEC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73E3E"/>
                </a:solidFill>
                <a:latin typeface="Arial"/>
              </a:rPr>
              <a:t>! Failure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4222E"/>
                </a:solidFill>
                <a:latin typeface="Arial"/>
              </a:rPr>
              <a:t>Vibe-coded output drifts across files → freeze interfaces, test after each change and keep a decision/prompt log.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04 · Evidence Chart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96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549640" y="1417320"/>
            <a:ext cx="2971800" cy="452628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08E88"/>
                </a:solidFill>
                <a:latin typeface="Arial"/>
              </a:rPr>
              <a:t>What the data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95728"/>
            <a:ext cx="2331720" cy="2697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4222E"/>
                </a:solidFill>
                <a:latin typeface="Arial"/>
              </a:rPr>
              <a:t>The chart is editable and bound to the same metric grain as the SQL. Validate totals before interpreting differences; visual polish never substitutes for reconciliation.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Topic 04 · Decision Checklist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state grain, keys and rules?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trace runtime row flow?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explain the failure path?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Can you reproduce and reconcile output?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What You Built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11 web 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Each folder runs independently with HTML/CSS/JS + SQLite WASM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Prompt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Requirements, AI output, corrections and decision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SQL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DDL, CRUD, joins, aggregates, CTEs, transactions and plans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Capstone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Service operations app with dashboard and acceptance checks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PRACTICE ·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Practice Beyond Class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83055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3055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Delete generated query and recreate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0974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142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65117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5117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1014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Perturb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0158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Change data and test boundaries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3036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4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47179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7179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Narrate row flow and 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5098" y="3063240"/>
            <a:ext cx="20116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2B6CB0"/>
                </a:solidFill>
                <a:latin typeface="Arial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6266" y="1874519"/>
            <a:ext cx="2580894" cy="347472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29241" y="2121408"/>
            <a:ext cx="694944" cy="69494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9241" y="2267712"/>
            <a:ext cx="6949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138" y="3063240"/>
            <a:ext cx="234315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2E"/>
                </a:solidFill>
                <a:latin typeface="Arial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703320"/>
            <a:ext cx="2324862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C6B73"/>
                </a:solidFill>
                <a:latin typeface="Arial"/>
              </a:rPr>
              <a:t>Use the Tertiary Exams portal for SQL-adjacent data practice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3A712"/>
                </a:solidFill>
                <a:latin typeface="Arial"/>
              </a:rPr>
              <a:t>CLOSE-OUT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2E"/>
                </a:solidFill>
                <a:latin typeface="Arial"/>
              </a:rPr>
              <a:t>Course Feedback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C6B7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B73"/>
                </a:solidFill>
                <a:latin typeface="Arial"/>
              </a:rPr>
              <a:t>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1700784"/>
            <a:ext cx="502920" cy="5029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Share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Tell us what worked and what to improve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148132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700784"/>
            <a:ext cx="502920" cy="5029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172821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3" y="166420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Keep your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3" y="207568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Save the 11 lab folders and your prompt 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963924"/>
            <a:ext cx="502920" cy="502920"/>
          </a:xfrm>
          <a:prstGeom prst="ellipse">
            <a:avLst/>
          </a:prstGeom>
          <a:solidFill>
            <a:srgbClr val="6B4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Keep practising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Rebuild one lab on your own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3744468"/>
            <a:ext cx="5257800" cy="208026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D5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5" y="3963924"/>
            <a:ext cx="502920" cy="5029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5" y="3991356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3" y="3927348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2E"/>
                </a:solidFill>
                <a:latin typeface="Arial"/>
              </a:rPr>
              <a:t>Certificate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3" y="4338828"/>
            <a:ext cx="4114800" cy="13213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Arial"/>
              </a:rPr>
              <a:t>Certificate of completion issued after the course</a:t>
            </a:r>
          </a:p>
        </p:txBody>
      </p:sp>
    </p:spTree>
  </p:cSld>
  <p:clrMapOvr>
    <a:masterClrMapping/>
  </p:clrMapOvr>
  <p:transition spd="med">
    <p:push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8E88"/>
                </a:solidFill>
                <a:latin typeface="Arial"/>
              </a:rPr>
              <a:t>PROMPT LESS · VERIFY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7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5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034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5723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19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51008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97896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6336792"/>
            <a:ext cx="45720" cy="45720"/>
          </a:xfrm>
          <a:prstGeom prst="ellipse">
            <a:avLst/>
          </a:prstGeom>
          <a:solidFill>
            <a:srgbClr val="0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6126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A8B8C3"/>
                </a:solidFill>
                <a:latin typeface="Arial"/>
              </a:rPr>
              <a:t>AI Vibe Coding for SQL · C1154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48840"/>
            <a:ext cx="105156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Turn intent into tested SQL.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300" b="1">
                <a:solidFill>
                  <a:srgbClr val="8FE5D7"/>
                </a:solidFill>
                <a:latin typeface="Arial"/>
              </a:rPr>
              <a:t>Model · Query · Validate · Ship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